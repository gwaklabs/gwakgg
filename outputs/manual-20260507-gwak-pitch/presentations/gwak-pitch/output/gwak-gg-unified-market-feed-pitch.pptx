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f9b8068464472" /><Relationship Type="http://schemas.openxmlformats.org/officeDocument/2006/relationships/extended-properties" Target="/docProps/app.xml" Id="Rb862fd906b714fdb" /><Relationship Type="http://schemas.openxmlformats.org/officeDocument/2006/relationships/officeDocument" Target="/ppt/presentation.xml" Id="R63965def7f56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3251e35ec34160"/>
  </p:sldMasterIdLst>
  <p:notesMasterIdLst>
    <p:notesMasterId xmlns:r="http://schemas.openxmlformats.org/officeDocument/2006/relationships" r:id="Rb43eb7a79f97491b"/>
  </p:notesMasterIdLst>
  <p:sldIdLst>
    <p:sldId xmlns:r="http://schemas.openxmlformats.org/officeDocument/2006/relationships" id="256" r:id="Rc874b21750424ed4"/>
    <p:sldId xmlns:r="http://schemas.openxmlformats.org/officeDocument/2006/relationships" id="257" r:id="R1e4ec306b04948e6"/>
    <p:sldId xmlns:r="http://schemas.openxmlformats.org/officeDocument/2006/relationships" id="258" r:id="R7f1cfea9643646bc"/>
    <p:sldId xmlns:r="http://schemas.openxmlformats.org/officeDocument/2006/relationships" id="259" r:id="R879d253e47394b60"/>
    <p:sldId xmlns:r="http://schemas.openxmlformats.org/officeDocument/2006/relationships" id="260" r:id="R7ce23bf504954c5f"/>
    <p:sldId xmlns:r="http://schemas.openxmlformats.org/officeDocument/2006/relationships" id="261" r:id="R8e910607392a4529"/>
    <p:sldId xmlns:r="http://schemas.openxmlformats.org/officeDocument/2006/relationships" id="262" r:id="R3bf5a917ca564296"/>
    <p:sldId xmlns:r="http://schemas.openxmlformats.org/officeDocument/2006/relationships" id="263" r:id="R95c71aec23b74302"/>
    <p:sldId xmlns:r="http://schemas.openxmlformats.org/officeDocument/2006/relationships" id="264" r:id="R4ad69e3a043742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251e35ec34160" /><Relationship Type="http://schemas.openxmlformats.org/officeDocument/2006/relationships/theme" Target="/ppt/theme/theme1.xml" Id="R23f2fe949fc140b5" /><Relationship Type="http://schemas.openxmlformats.org/officeDocument/2006/relationships/notesMaster" Target="/ppt/notesMasters/notesMaster1.xml" Id="Rb43eb7a79f97491b" /><Relationship Type="http://schemas.openxmlformats.org/officeDocument/2006/relationships/presProps" Target="/ppt/presProps.xml" Id="R24bcb95a762c4dd5" /><Relationship Type="http://schemas.openxmlformats.org/officeDocument/2006/relationships/viewProps" Target="/ppt/viewProps.xml" Id="R989e7bfe5d8249e7" /><Relationship Type="http://schemas.openxmlformats.org/officeDocument/2006/relationships/tableStyles" Target="/ppt/tableStyles.xml" Id="Ree67c33afeb941ef" /><Relationship Type="http://schemas.openxmlformats.org/officeDocument/2006/relationships/slide" Target="/ppt/slides/slide1.xml" Id="Rc874b21750424ed4" /><Relationship Type="http://schemas.openxmlformats.org/officeDocument/2006/relationships/slide" Target="/ppt/slides/slide2.xml" Id="R1e4ec306b04948e6" /><Relationship Type="http://schemas.openxmlformats.org/officeDocument/2006/relationships/slide" Target="/ppt/slides/slide3.xml" Id="R7f1cfea9643646bc" /><Relationship Type="http://schemas.openxmlformats.org/officeDocument/2006/relationships/slide" Target="/ppt/slides/slide4.xml" Id="R879d253e47394b60" /><Relationship Type="http://schemas.openxmlformats.org/officeDocument/2006/relationships/slide" Target="/ppt/slides/slide5.xml" Id="R7ce23bf504954c5f" /><Relationship Type="http://schemas.openxmlformats.org/officeDocument/2006/relationships/slide" Target="/ppt/slides/slide6.xml" Id="R8e910607392a4529" /><Relationship Type="http://schemas.openxmlformats.org/officeDocument/2006/relationships/slide" Target="/ppt/slides/slide7.xml" Id="R3bf5a917ca564296" /><Relationship Type="http://schemas.openxmlformats.org/officeDocument/2006/relationships/slide" Target="/ppt/slides/slide8.xml" Id="R95c71aec23b74302" /><Relationship Type="http://schemas.openxmlformats.org/officeDocument/2006/relationships/slide" Target="/ppt/slides/slide9.xml" Id="R4ad69e3a0437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617d146bac44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408cc0e5c46bf" /><Relationship Type="http://schemas.openxmlformats.org/officeDocument/2006/relationships/notesMaster" Target="/ppt/notesMasters/notesMaster1.xml" Id="R9cba141260444a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b2060f6c584e27" /><Relationship Type="http://schemas.openxmlformats.org/officeDocument/2006/relationships/notesMaster" Target="/ppt/notesMasters/notesMaster1.xml" Id="R8c5fffaa62074c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3c8bc57a243c2" /><Relationship Type="http://schemas.openxmlformats.org/officeDocument/2006/relationships/notesMaster" Target="/ppt/notesMasters/notesMaster1.xml" Id="R406e13237962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387ea55f034371" /><Relationship Type="http://schemas.openxmlformats.org/officeDocument/2006/relationships/notesMaster" Target="/ppt/notesMasters/notesMaster1.xml" Id="Rbfccc5224a48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9b7d57a00b4da1" /><Relationship Type="http://schemas.openxmlformats.org/officeDocument/2006/relationships/notesMaster" Target="/ppt/notesMasters/notesMaster1.xml" Id="R165d2f68b3a04c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3103deb9864f08" /><Relationship Type="http://schemas.openxmlformats.org/officeDocument/2006/relationships/notesMaster" Target="/ppt/notesMasters/notesMaster1.xml" Id="Rfad4a4f5509b42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c4017d4b474231" /><Relationship Type="http://schemas.openxmlformats.org/officeDocument/2006/relationships/notesMaster" Target="/ppt/notesMasters/notesMaster1.xml" Id="Ra17669aea48549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246991047740cb" /><Relationship Type="http://schemas.openxmlformats.org/officeDocument/2006/relationships/notesMaster" Target="/ppt/notesMasters/notesMaster1.xml" Id="Rb5f5ff0cd757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163f16a6f9486f" /><Relationship Type="http://schemas.openxmlformats.org/officeDocument/2006/relationships/notesMaster" Target="/ppt/notesMasters/notesMaster1.xml" Id="R9eca018cbcac46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5746f8962406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91d1ba56034fcb" /><Relationship Type="http://schemas.openxmlformats.org/officeDocument/2006/relationships/slideLayout" Target="/ppt/slideLayouts/slideLayout2.xml" Id="R43fb2f231b374d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fb2f231b374d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9173986f534c1d" /><Relationship Type="http://schemas.openxmlformats.org/officeDocument/2006/relationships/notesSlide" Target="/ppt/notesSlides/notesSlide1.xml" Id="R1dd64e2072a040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b385e8b0ae42ae" /><Relationship Type="http://schemas.openxmlformats.org/officeDocument/2006/relationships/notesSlide" Target="/ppt/notesSlides/notesSlide2.xml" Id="R3e0c819f153f44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4801ae032d42a4" /><Relationship Type="http://schemas.openxmlformats.org/officeDocument/2006/relationships/notesSlide" Target="/ppt/notesSlides/notesSlide3.xml" Id="R8ef3dfbdc2b343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87bdddac847be" /><Relationship Type="http://schemas.openxmlformats.org/officeDocument/2006/relationships/notesSlide" Target="/ppt/notesSlides/notesSlide4.xml" Id="R1e86cc72c5384b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362f73498c4fe7" /><Relationship Type="http://schemas.openxmlformats.org/officeDocument/2006/relationships/notesSlide" Target="/ppt/notesSlides/notesSlide5.xml" Id="Rbfc44bb3f2a74b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3005ca3aa477d" /><Relationship Type="http://schemas.openxmlformats.org/officeDocument/2006/relationships/notesSlide" Target="/ppt/notesSlides/notesSlide6.xml" Id="R19e74fcc761040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c472748654085" /><Relationship Type="http://schemas.openxmlformats.org/officeDocument/2006/relationships/notesSlide" Target="/ppt/notesSlides/notesSlide7.xml" Id="R3f999af6922248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4445bb9db4a21" /><Relationship Type="http://schemas.openxmlformats.org/officeDocument/2006/relationships/notesSlide" Target="/ppt/notesSlides/notesSlide8.xml" Id="Rc1cb01dec5b941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a7043570154b47" /><Relationship Type="http://schemas.openxmlformats.org/officeDocument/2006/relationships/notesSlide" Target="/ppt/notesSlides/notesSlide9.xml" Id="Re755aa47be7744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BE779-BFF2-413C-B5EC-CA2D3DD3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40020-4F45-40C5-8634-A60D7DD1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B45F9-04F5-4BA4-AD56-F07E0114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I N V E S T O R   P I T C 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8C64C-6DF4-42F8-94CB-0C03D0AF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gwak.gg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078FE-060B-4318-86BE-06D2DD1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667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The unified market feed for three related ways people discover opportunities.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97947-EAAA-4541-A5B9-8E84E54C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571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Meme tokens, prediction markets, and whale position signals already influence each other. gwak.gg puts discovery, staking, portfolio tracking, and withdrawal into one Solana wallet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33FC0-A1A1-4695-BB6F-E0BB12CF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FC2E0-5578-4AA7-BF52-7BAAA44B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3 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77834-930A-444D-A4EE-58B8A599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meme, prediction, whale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2BBE0-C103-4961-9091-0C8BC6D2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43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1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FE2BF-2EA8-4D3C-AAA9-6AAE1E2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USDC-funded Solana account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20C42-036E-4932-B812-F3CF0F2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1 feed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0D325-E8EB-41F5-9290-AFECEEF2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67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ranked by live signal heat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49CF1-94E4-4233-8CA8-2CA9B775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914400"/>
            <a:ext cx="31242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8FB83-C509-4D8B-A837-4945451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144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D"/>
          </a:solidFill>
          <a:ln xmlns:a="http://schemas.openxmlformats.org/drawingml/2006/main" w="9525">
            <a:solidFill>
              <a:srgbClr val="3437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EF90F-0D25-421C-9270-01F912D8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D"/>
          </a:solidFill>
          <a:ln xmlns:a="http://schemas.openxmlformats.org/drawingml/2006/main" w="9525">
            <a:solidFill>
              <a:srgbClr val="3437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61EDC-C398-4E6A-B1FA-D282864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814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D"/>
          </a:solidFill>
          <a:ln xmlns:a="http://schemas.openxmlformats.org/drawingml/2006/main" w="9525">
            <a:solidFill>
              <a:srgbClr val="3437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FA6CF-C802-481A-BC6B-626C32C9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742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1D"/>
          </a:solidFill>
          <a:ln xmlns:a="http://schemas.openxmlformats.org/drawingml/2006/main" w="9525">
            <a:solidFill>
              <a:srgbClr val="32D5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1D107-4177-4873-AA43-B1EC0112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430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MEME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A2E49-86D5-4E6F-A603-151CBDC2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1104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214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AA639-63CD-439E-B72B-4878FED0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PREDICTION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A88C5-141F-484A-BCCB-88D86188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800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133"/>
          </a:solidFill>
          <a:ln xmlns:a="http://schemas.openxmlformats.org/drawingml/2006/main" w="9525">
            <a:solidFill>
              <a:srgbClr val="3E7B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5040C-F400-4EFA-AE8B-96486F98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E7BFA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3E7BFA"/>
                </a:solidFill>
                <a:latin typeface="Avenir Next"/>
                <a:ea typeface="Avenir Next"/>
                <a:cs typeface="Avenir Next"/>
              </a:rPr>
              <a:t>WHALE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06885-56F7-476A-9114-1477366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funded</a:t>
            </a:r>
          </a:p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market surface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70762-C130-4AEB-839D-39569DE5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discover</a:t>
            </a:r>
          </a:p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compare</a:t>
            </a:r>
          </a:p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C2AEE2-2575-4488-83A2-0DBBE0A0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76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track</a:t>
            </a:r>
          </a:p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close</a:t>
            </a:r>
          </a:p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withdraw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B2495-3069-476B-B83D-31F1B9D9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38125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0E077-2C16-40F2-8487-913F356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1475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D655E-0009-44A1-8D7D-4690F9A8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4825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AB2E22-4E43-462B-9F67-5868CE7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24896-8923-4CF5-AD87-8CFFAC3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Source: local product guidance and project specs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3C6813-A58D-4E6F-AB73-B9BA595D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6A61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C6A6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52405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E434B-E3E1-4570-B25E-6747587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CC7F8-F69D-4A97-9B45-7D735BE6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0D13A-11D4-498D-9024-9C591326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 R O B L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F35E2-B07E-42B7-ABB8-85010690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Active market users split attention, capital, and signing across too many surfaces.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FDAA1-CE27-4370-A4C5-DF6EA46D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A single session can move between token charts, prediction markets, whale trackers, bridges, wallets, and portfolio tabs. The opportunity may be related, but the workflow is fragmented.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902A9-B0C2-456E-9F85-B92CD34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2D58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3319A-0D35-4F23-8118-57A91972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Meme token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C6CB9-26BA-4B66-B22F-6B2E868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EEBD8-B18F-45B4-A54F-5D8D3FB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Prediction venues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DC948-6E48-4305-BF49-92FBC235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E7B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9C1B3-C46C-46E9-B757-26C92034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Whale trackers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1FC95-3F42-44F1-AA1D-77B21E6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196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90EE6-02C0-4580-964D-9DB70D25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101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Separate wallets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F6AEA-F713-4492-B9BA-73E3D9B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19650"/>
            <a:ext cx="1847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F970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1C168-D788-41F9-A6EA-C458B6F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Portfolio tabs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BA64A-F1D4-427D-A576-83814555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52750"/>
            <a:ext cx="16954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B2069-9AA9-452F-8B8F-048036D9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04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User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4514B-2971-4AEC-93C8-F1973E6B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90925"/>
            <a:ext cx="89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D558D-21BB-435B-A571-478CC045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100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missed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C0E46-7BCA-41AE-B86E-35F7A58C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195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stale balances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D40D9-EC7A-427A-AD45-E9D595AE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29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slow 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3F4E0-A72F-458C-A590-D0B0CA96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386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unclear exposure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F10E5-39ED-4EE4-82B3-915F9CE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004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9D8B7D-D6A3-415C-823A-F75C5D82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81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17F86-D79E-4548-841E-2E541D38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434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48335-9033-4554-9235-AD9642D2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BF30F-E5A8-4743-A911-FEB05761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483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The core problem is not a lack of markets. It is too much context spread across too many execution environments.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913B1-EC56-4839-882B-18A22D97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A4362-82AA-48E8-9F34-C1EE3CA4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Problem frame derived from user brief and shipped product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7A35B-F319-4CB3-9B4F-EC46E548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6A61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C6A6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178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D014A-2CF8-40DF-AAC5-D30F164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8A08C-542A-4B7D-B4A2-2491C6B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527F9-7F44-4AD6-8B05-BB85440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FC8BD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FC8BD"/>
                </a:solidFill>
                <a:latin typeface="Avenir Next"/>
                <a:ea typeface="Avenir Next"/>
                <a:cs typeface="Avenir Next"/>
              </a:rPr>
              <a:t>I N S I G H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90A8A-AB2B-4F47-9D3D-90C4B72A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three rails are separate products today, but they often answer the same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E3446-A147-4C4C-99D2-F84F03F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What is moving, why is it moving, and who is already positioned?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40F03-9D58-4846-A132-69D00295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2286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9"/>
          </a:solidFill>
          <a:ln xmlns:a="http://schemas.openxmlformats.org/drawingml/2006/main" w="9525">
            <a:solidFill>
              <a:srgbClr val="3A3D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64A65-5A83-44A4-ABF5-E4487BA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related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discovery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BEB28-8626-4E49-BFC2-23B69CE2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730"/>
          </a:solidFill>
          <a:ln xmlns:a="http://schemas.openxmlformats.org/drawingml/2006/main" w="19050">
            <a:solidFill>
              <a:srgbClr val="32D5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36DE5-95BA-4CA0-8480-B6F5D601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8607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F69C6-22F5-4C63-9FDE-7350B8B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13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FC8B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CFC8BD"/>
                </a:solidFill>
                <a:latin typeface="Avenir Next"/>
                <a:ea typeface="Avenir Next"/>
                <a:cs typeface="Avenir Next"/>
              </a:rPr>
              <a:t>price and community attention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93D52-B035-4F40-9FB6-CDABDD68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730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8C3F4-4C85-472A-B720-E3E78E3D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8607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F4B8E-7B2E-447A-812A-32C8401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FC8B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CFC8BD"/>
                </a:solidFill>
                <a:latin typeface="Avenir Next"/>
                <a:ea typeface="Avenir Next"/>
                <a:cs typeface="Avenir Next"/>
              </a:rPr>
              <a:t>belief change and event 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BD4A0-789F-4538-A7B6-C22B283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6730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730"/>
          </a:solidFill>
          <a:ln xmlns:a="http://schemas.openxmlformats.org/drawingml/2006/main" w="19050">
            <a:solidFill>
              <a:srgbClr val="3E7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521B5-1018-4791-AC35-8C72B660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292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4FE1C-0160-479B-AE1B-2859BFA4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245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FC8BD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CFC8BD"/>
                </a:solidFill>
                <a:latin typeface="Avenir Next"/>
                <a:ea typeface="Avenir Next"/>
                <a:cs typeface="Avenir Next"/>
              </a:rPr>
              <a:t>large position movement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AD345-5D6D-459A-A7DC-CA65264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EFEA2-6051-46C5-9FA1-A9280EF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5B845-303C-4AFD-B5D9-1F8F47B4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C5BEB-1D3A-4E59-8160-115D7D91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9"/>
          </a:solidFill>
          <a:ln xmlns:a="http://schemas.openxmlformats.org/drawingml/2006/main" w="9525">
            <a:solidFill>
              <a:srgbClr val="32D5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6A873-3681-4697-909D-84AD8B35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52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shared context, different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E50F7-6A51-4791-963C-189CD523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24550"/>
            <a:ext cx="891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8E1D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E8E1D7"/>
                </a:solidFill>
                <a:latin typeface="Avenir Next"/>
                <a:ea typeface="Avenir Next"/>
                <a:cs typeface="Avenir Next"/>
              </a:rPr>
              <a:t>A token can move because an event changes odds. A whale position can validate or challenge the same story. The product value is making those links visible fast.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A4528-DCF5-4EE5-901E-222269ED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F2077-F433-4B1C-A41A-C6D370D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C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F8C85"/>
                </a:solidFill>
                <a:latin typeface="Avenir Next"/>
                <a:ea typeface="Avenir Next"/>
                <a:cs typeface="Avenir Next"/>
              </a:rPr>
              <a:t>Product insight: discovery rails are correlated enough to share one feed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E1DB5-402B-4AB0-A836-AB617436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8C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F8C8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0526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40B51-0AAF-431A-A701-5F6254D6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FDCF7-4286-48D2-92E7-839E3E4A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53C27-FA41-4D2A-968F-F99E07D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 R O D U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0DD1E-F57A-474B-9D5A-B4591C60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858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A vertical feed turns market discovery into a single, repeatable action pattern.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8A2EE-15D9-48C4-AF5B-0BD057FC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Each card explains why the opportunity is hot, then lets the user choose a small preset stake without switching apps.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E0BA9-4040-4B8A-865A-041124C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42950"/>
            <a:ext cx="27813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A6F21-E8D7-46F4-88B5-ACEA03F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"/>
            <a:ext cx="23622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730"/>
          </a:solidFill>
          <a:ln xmlns:a="http://schemas.openxmlformats.org/drawingml/2006/main" w="9525">
            <a:solidFill>
              <a:srgbClr val="3A3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0B7CA-8B61-42C6-8F61-0A20AA15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001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$83.40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1E143-4B68-40A9-AEDD-08332539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1085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81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54A03-076C-4693-A91C-42115ED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335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9E612-1BFB-4E36-BFFB-665D6C5D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Will the market price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move before Friday?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B6082-7447-4041-8D56-5D9AF00A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9525">
            <a:solidFill>
              <a:srgbClr val="4043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C416D-0567-4E42-B8AC-2FF202B2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90875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volume 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DC7F2-145C-4127-88A8-D0961D82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052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9525">
            <a:solidFill>
              <a:srgbClr val="4043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0B931-2702-41C3-8820-80E38140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odds 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26B40-A00D-411F-9C75-67E90FB9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671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9525">
            <a:solidFill>
              <a:srgbClr val="4043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B6D1F-BBF8-4765-B7B6-D8E725F0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14775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near resolve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A83B4-EA3E-4676-933D-7165EB9C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529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9525">
            <a:solidFill>
              <a:srgbClr val="4043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F60AE-B8CE-46FE-AD2D-4776D23B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D5289-40AF-43B5-B69E-15AED6F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5529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9525">
            <a:solidFill>
              <a:srgbClr val="4043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9859D-71E7-49EC-8399-33DB122A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29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C86B8-76B2-4858-AB33-0445B666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101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26417-9E2D-4437-A4C8-592CCB1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863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$20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5D860-0315-4234-836E-FFE49C2A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0101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9525">
            <a:solidFill>
              <a:srgbClr val="4043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E7CE35-5407-4286-B309-3B0A6F9E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0863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C8A04-E286-4CF1-9016-53FAFFE0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2D5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D8B35-D72B-4070-A705-93C01EAC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Signal card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830E0-F49A-42D8-B320-8F7E0B7C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575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ranked by heat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18C0A-7B8B-4119-B743-D78913DB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67734-E2D2-40FC-9C91-06B0F0D4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Decision 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CB8516-C7B6-47DE-BFC7-88F00567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005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$5 / $10 / $20 / $50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EF779-1E5D-4F16-818C-3FADFC90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E7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6D3D2-BB7D-4095-A913-07A46E43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Portfolio 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220489-5D85-42ED-BFAF-71BB391A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434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open, close, withdraw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D33E17-17B3-4CD2-9D74-4C744FC3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5D7DB1-D5CD-46C3-A5AB-3E8DBCC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7474D6-B21D-4B90-A9DA-F64D6812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85C0B4-7D3F-4D8C-8123-1E31C3FB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FA6B6E-D863-40FD-A9BF-8E5A363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Product structure: vertical feed, signal chips, preset stakes, portfolio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656CF4-D422-4DDC-BDCD-5B612BA8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6A61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C6A6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11502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A0C6F-E855-428F-8441-693DCA97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0068E-666B-4328-9744-8C59CCF5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BADB6-F9F5-470D-B06B-6607D9F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J O U R N E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5E1F1-2A73-4EC6-B601-FEC2EA1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The user journey collapses scattered tabs into one funded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7ABE8-6F50-4BDA-8101-947B6EE3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The same wallet funds every rail, the same feed discovers every opportunity, and the same portfolio tracks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97D51-73C7-481B-AD7B-9E420A90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E0C5C-D04E-4FF2-A22B-A6EFEF61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219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Log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3B2FF-004B-453D-B7BF-D9523125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Privy embedded wallet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04822-42C9-49D8-9599-A899EE2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D58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32D58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22DD3-89D9-476E-BD33-E66F9045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290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9E2DA-863F-451D-B1E3-FB3EEAF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4E1A0-A681-49F5-8427-6D7F9A50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1219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Fund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A1A55-5918-4435-BD21-13726346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2902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USDC balance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523E0-911A-45C9-8FD4-8689CBAD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84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2B84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9D3CE-1BFC-419D-B33F-3684CB10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290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F5BFA-6954-49C5-A603-AD5695DA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9525">
            <a:solidFill>
              <a:srgbClr val="1718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B0C19-6A71-4165-8A81-6E95A95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1219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Discover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A0459-806A-4798-96A1-BABF793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2902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ranked feed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1E796-B18C-45D8-B2D1-DF79838D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E7BF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3E7BF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EB0B6-EE05-4AF2-8039-C7F9CAE3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FA163-3BF6-41DC-BF75-2407FE58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72BD6-361D-4E9C-8854-DCDA29AC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219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Stake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FEFD9-A60F-466C-A41E-90F0AD2B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2902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preset amount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502C6-A176-4098-951C-06D5B066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B5CF6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8B5CF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9B5F5-E4CE-4680-9A4E-032EB5DE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290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C1E40-EA4E-419A-BCF8-9E4B89E4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19450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2175A-CCB7-41A0-9F3A-52E3DE79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71850"/>
            <a:ext cx="1219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Manage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C65EC-1A5D-4485-B14B-5D5E72D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2902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portfolio and withdrawal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2FB34-27A1-4A27-A6E7-1422DC9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9293B-D6BB-4872-959A-A3698F4C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E67CD-A2F4-4121-823E-07F0B05B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95875"/>
            <a:ext cx="811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The workflow is deliberately simple: users should spend time comparing live opportunities, not moving assets between tools.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6208F0-3EE2-4EC8-8FA2-C9BA5EAE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B06316-0228-49BC-97D0-D74DA4A5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User journey from repo routes: login, deposit, feed, bet routes, portfolio, withdraw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5BA2D7-8835-4DA5-9278-15C5FC4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6A61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C6A61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43379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65984F-A9C4-4A5F-8D7D-A74F0181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84254-4062-4428-93D9-744DE203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C057D-4976-4BCA-9627-E8F8A32E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S Y S T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0E4E2-B6DC-4E7E-AA5F-09494315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Live external signals resolve into one Solana execution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7A711-6CC0-4C71-9D86-7C4A154F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The product does not need to own every venue. It turns external data into ranked cards, then uses Solana-native execution for the actual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7B57D-7C2D-44ED-869E-9E4D8AE8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Signal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0CE12-7024-4880-837F-0629440B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E1252-6A34-4928-8C1F-D411ED0E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Product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7C22D-2709-484C-894C-6BBD66BC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D8014-8C5C-4C16-A52D-E356F4D0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9303E-98DD-428C-8B80-8096C1B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657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DexScreener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20950-F087-48EE-9E3D-4BFF3CE5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meme heat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29C68-7F5D-43AC-B96B-25479C6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5F4F5-494F-44A0-8CB8-807353B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F0618-107A-4F86-B891-D66BD180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657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Jupiter 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84B16-BD9D-4C35-8E84-9CDBAE3C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event liquidity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4BEDB-207B-4BC3-AA07-5C603271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3FC22-F150-408E-AC4D-D4EB3382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3C382-92AC-4075-A342-16CC6ECB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657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Hyperliquid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21A9E-3015-4C1F-AB77-A2F4498A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01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whale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7B4EB-90EB-40C8-A5FB-AB34AEF4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414A5-FD62-4D18-9E24-7C8DC1C0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33800"/>
            <a:ext cx="1828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9525">
            <a:solidFill>
              <a:srgbClr val="1718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52035-D6FA-409E-8DFD-57FB3CF8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1485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Heat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C36DC-99D2-4DE0-A194-AE48807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4337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0-100 per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ECC1D-9D87-464C-BCB0-23E04B9A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1828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0587C-C638-4156-940E-DC03051A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485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Vertical feed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236B9-D029-4B8A-B6B8-D784188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top opportunities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155CB-7410-4BD3-9B23-68AADAD5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9525">
            <a:solidFill>
              <a:srgbClr val="1718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18910-0180-41BA-9CD5-9A9FCC72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657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Solana wallet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2EAAAB-9BE3-4D3F-B0D2-FCBC3EC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433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Jupiter, Prediction, Flash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BA5353-A16B-4515-B8C2-DCB42424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386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AE7D8-4B68-47FC-970A-EBCCE824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529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4DFA18-929A-4752-B0C5-A4760C7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5290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8F255-8B60-490B-B4D8-ED937F5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006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9C807A-E749-4FB0-B6F0-9CAA9B1C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626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6BCEE-6D39-4D1C-9F1A-DA9B038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C7887F-0A76-4607-9BD2-8AFD8EDA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8640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Data sources stay specialized; the user experience becomes unified.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1B7C6-CB92-418B-82AD-937A98C4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90E804-C290-4C14-A280-2B9265B6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Architecture: source APIs, heat scoring, feed routes, Solana execution routes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A46835-C874-4197-BD19-42193F53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6A61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C6A61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48802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48456-8C50-4946-9FA8-541E72D5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ADB33-A158-41B4-8C57-99B02B32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05EBA-7793-462B-B4BF-A0A6B837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W A L L E T   L A Y E 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EAE75-E8AC-4BF7-9431-3F00A1E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62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One funded Solana wallet removes the hidden friction behind multi-venue activity.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BB53A-4168-4825-AD3D-00165D9C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The user sees one ready balance. Behind the scenes, Privy handles the embedded wallet and the gasless path keeps SOL fees out of the user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C4CF7-6A2C-4FFF-B84A-657B1DC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4E554-C2E5-43A9-84D1-6D73009E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With gwak.gg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95ACE-2C9A-4693-98A7-AB9B581E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2D5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AC23E-5E72-41DC-8D18-EFCE8665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Wallet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8B13D-44E5-4248-8729-EB3AA614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4340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C6526-B148-47EA-9C6E-DDB4FC25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Wallet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2CE4E-4F74-45D7-BD7D-D4B9C350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623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E7B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5A7D6-91C9-4E8C-8E7B-EA54CCFD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Wallet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33FC0-480A-480B-8487-D23F8ACB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290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D89DF-E2FC-4A41-8A4E-505538F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97F4C-C1BB-4BFE-9AE4-571D90A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bridges, duplicate balances,</a:t>
            </a:r>
          </a:p>
          <a:p xmlns:a="http://schemas.openxmlformats.org/drawingml/2006/main">
            <a:pPr algn="ctr">
              <a:defRPr sz="105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manual gas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CA851-2316-4BA8-93D6-638BD5DA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2990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6B08C-FD9E-4C57-9E10-5E16C88C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$83.40 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C73BB-0BE3-433E-9196-6A79888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USDC balance across all rails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57C9D-D636-4AB7-AFC4-9CEE195F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623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6F8CC-3FDC-45CF-8984-2762BFC3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480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Meme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5B34B-69AF-48DB-B1AA-4DCD1827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195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3459D-66F1-4D3A-8324-07CCD2C7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052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Prediction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93541-5834-46B7-AF36-D9EAE030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767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8D848-0B42-40F6-A6EB-DC431F7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624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Whale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FD247-5791-4E50-B1B4-14C2FE79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25B051-C300-40E4-A8D5-873A2C7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529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11954-6DE1-4976-8B2F-0EC71E57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05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D2091-656D-44AA-9823-AD657E35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14610-0BC6-4B22-90AC-496A10AA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Wallet layer: Privy embedded Solana wallet, USDC balance, gasless server fee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DBDDE-1468-4E72-9D16-BBE54F3F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6A61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C6A61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96202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ED2809-45ED-4BE4-B16B-F77F6864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72979-F27C-48AC-BECF-010798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7F47E-21AF-4F86-A903-18A5B3EC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FC8BD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FC8BD"/>
                </a:solidFill>
                <a:latin typeface="Avenir Next"/>
                <a:ea typeface="Avenir Next"/>
                <a:cs typeface="Avenir Next"/>
              </a:rPr>
              <a:t>B U S I N E S S   M O D E 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42F12-51EF-4F67-B5F6-AA65630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334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model monetizes execution frequency while keeping exits free.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E492F-C0D0-4E11-88D9-42A31C5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14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Each open can carry a small platform fee, while portfolio closes and withdrawals stay free. That keeps the product aligned with fast discovery and responsible position management.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C9845-794D-4741-8860-17FFE8F4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42B"/>
          </a:solidFill>
          <a:ln xmlns:a="http://schemas.openxmlformats.org/drawingml/2006/main" w="9525">
            <a:solidFill>
              <a:srgbClr val="3A3D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AC0CF-3745-47A6-914D-FC795390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Open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5257F-DB42-47D1-836E-D36E66E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2D58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32D583"/>
                </a:solidFill>
                <a:latin typeface="Georgia"/>
                <a:ea typeface="Georgia"/>
                <a:cs typeface="Georgia"/>
              </a:rPr>
              <a:t>0.5% + $0.05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F98EF-CFD1-4D70-8EAF-14F667AD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platform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01869-AE99-4326-93E2-4715BD62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42B"/>
          </a:solidFill>
          <a:ln xmlns:a="http://schemas.openxmlformats.org/drawingml/2006/main" w="9525">
            <a:solidFill>
              <a:srgbClr val="3A3D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EBCCC-FB74-4015-9D14-65E6C69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Close / withdraw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8D6B2-2910-4B61-8625-D497F3CB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84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2B84B"/>
                </a:solidFill>
                <a:latin typeface="Georgia"/>
                <a:ea typeface="Georgia"/>
                <a:cs typeface="Georgia"/>
              </a:rPr>
              <a:t>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73170-AAEC-4DED-B8EC-BC2DD28D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reduces exit anxiety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F9065-6377-4FC0-884F-06963B1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277CD-0C3D-403C-B3C4-4D0C926B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Expansion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12E30-FB36-451A-9879-07585D01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More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807F8-B20F-4322-B763-9F317991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52875"/>
            <a:ext cx="209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50A31-363F-4258-8416-C58F9B38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52875"/>
            <a:ext cx="17183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3263A-E0E3-4F4B-958B-CE7132B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More saved lists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A0ED5-43FB-4B85-99A8-6C4A1550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14825"/>
            <a:ext cx="209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A97C3-2A13-4EF3-9055-A720C24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14825"/>
            <a:ext cx="13830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8F4C4-A2D7-4907-AFF2-1D0AB599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29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More portfolio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8A321-7ACD-44D2-B68B-3BE00C30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76775"/>
            <a:ext cx="209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BB572-2A3F-401A-8C5F-247E49B8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76775"/>
            <a:ext cx="12153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DE9E-9DE1-4BC2-812B-023627C4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1002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C62F27-611B-48EF-A932-A3AAC37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1002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12C4F-A14E-4B97-A9CF-E1E95AE6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578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Monetization grows with useful action, not with custody complexity.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F3999-6F29-419A-A520-051E6047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E9EBC-7AD4-406A-96E4-E76AB745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8C8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F8C85"/>
                </a:solidFill>
                <a:latin typeface="Avenir Next"/>
                <a:ea typeface="Avenir Next"/>
                <a:cs typeface="Avenir Next"/>
              </a:rPr>
              <a:t>Fee model from gasless trade implementation notes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97FCC-10B2-4414-8C37-0B65A805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8C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8F8C8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00306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301D7-8C44-4FCF-8D44-E0F67F91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F89AB-76C5-4116-B781-281C6795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31F37-B863-4B4D-8F3E-B73B4EDD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L A U N C H   P A T 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F9F43-1D12-450B-8950-92E08649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MVP scope is narrow enough to ship, but broad enough to own the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47438-964A-416A-99E3-86ECA977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The first version proves the loop with real feeds, real Solana execution, and one portfolio. Expansion can then come from better ranking, watchlists, and deeper rail coverage.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A4B43-94A6-42B6-A16E-3F939171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2D58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B228D-243C-419F-96B1-D8AAB564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67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D00E2-A818-40A2-A805-9E8D623D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Ship waitlist and live demo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4A2E1-DAA7-4859-9157-0D5E6942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57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7A4B0-E24F-45DC-8991-70DDEDA1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7F653-63DE-454E-9A94-4BBA17CC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38550"/>
            <a:ext cx="167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3330A-4394-4E54-AF6D-89EB6777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00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8D4CC"/>
                </a:solidFill>
                <a:latin typeface="Avenir Next"/>
                <a:ea typeface="Avenir Next"/>
                <a:cs typeface="Avenir Next"/>
              </a:rPr>
              <a:t>Three rails, one wallet, portfolio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DD01C-BE76-48B8-8F5A-DC224873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957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53685-809C-4FBD-8AA9-9E7A6353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3E7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43537-CC7A-4BD9-926A-32485A4D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167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36E0D-E0D9-4372-AB64-0E1FDDC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Personalized discovery and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37946-8154-48A1-83FD-A7B6E34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957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FE7C2-D977-4A53-A859-5EC30D7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86A8F-7ADD-4320-88C4-D28A7EB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67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11318"/>
                </a:solidFill>
                <a:latin typeface="Georgia"/>
                <a:ea typeface="Georgia"/>
                <a:cs typeface="Georgia"/>
              </a:rPr>
              <a:t>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A5B46-8F11-4E96-834F-C1B9A4F7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00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More markets, deeper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6CF82-74C0-429A-A1CF-3A343F7D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7886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AC345-0B15-4032-B393-A2C92074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91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318"/>
                </a:solidFill>
                <a:latin typeface="Avenir Next"/>
                <a:ea typeface="Avenir Next"/>
                <a:cs typeface="Avenir Next"/>
              </a:rPr>
              <a:t>Ask: launch partners, early users, and capital to turn the unified market feed into the default daily workflow.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6CBF7-39A0-4257-9E02-AB60CCCA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54030-8D55-401F-B480-0A961EAE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6A61"/>
                </a:solidFill>
                <a:latin typeface="Avenir Next"/>
                <a:ea typeface="Avenir Next"/>
                <a:cs typeface="Avenir Next"/>
              </a:rPr>
              <a:t>Roadmap framed around shipped repo capabilities and near-term product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B97D7-B73F-4098-8F01-D5F00A71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C6A61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C6A61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2270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2026-05-07T19:16:13.5850000Z</dcterms:created>
  <dcterms:modified xsi:type="dcterms:W3CDTF">2026-05-07T19:16:13.5850000Z</dcterms:modified>
</coreProperties>
</file>